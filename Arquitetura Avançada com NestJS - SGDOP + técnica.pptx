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2.png" ContentType="image/png"/>
  <Override PartName="/ppt/media/image3.png" ContentType="image/png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8.gif" ContentType="image/gif"/>
  <Override PartName="/ppt/media/image22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1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E61E17-4C6F-40CC-AFAB-54E6F7E475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EDC0E9-257B-441E-B978-C64EE7987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88F4A61-10B2-403D-9D4B-8C38EE82DC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1BD21B2-279A-4CF6-8AFB-49E59AF95A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7F850FF-8025-4F98-B2D3-7CF6B41D2D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4F2FE76-B73A-4C28-9C07-7A9E293D6F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C76B075-8BB2-4F19-AEDF-836FE9D170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F9842BE-8670-42D0-9054-5FE61C54F9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0987EB8-4FA5-430F-84E8-053D59622B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34B0367-F3ED-4FD1-9E8D-BF17F43768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429E535-F152-4D62-AA15-B114840394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49C08C-7B21-452C-AE7C-807DF3C94AC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13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A3DF7F-3CD3-4C84-8A22-9E67BB12C7F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CBAFE8-E6E0-4D65-BEB7-CEA569D742E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0141D8-876D-4203-A264-299676A69C7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AB0817-3586-4655-ABBD-1E3BF481A00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D61A5E-B938-46DE-8AB6-99FB7725DF2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769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769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E965CC-B572-495D-8C77-5ADAEBA381F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21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21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EA60CC-D6BB-4668-939D-D9839BAA830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A12A0B-2E49-475E-8EA3-017999A6AFB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5CEEE2-7070-4657-B917-2ECE436D283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23D1AE-D5B6-45EF-A98F-FA8B380C98E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gif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8" name="Google Shape;85;p13" descr="image.png"/>
          <p:cNvPicPr/>
          <p:nvPr/>
        </p:nvPicPr>
        <p:blipFill>
          <a:blip r:embed="rId2"/>
          <a:stretch/>
        </p:blipFill>
        <p:spPr>
          <a:xfrm>
            <a:off x="616320" y="2218320"/>
            <a:ext cx="10543680" cy="372168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86;p13"/>
          <p:cNvSpPr/>
          <p:nvPr/>
        </p:nvSpPr>
        <p:spPr>
          <a:xfrm>
            <a:off x="1170360" y="2148840"/>
            <a:ext cx="9851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8fafc"/>
                </a:solidFill>
                <a:latin typeface="Urbanist"/>
                <a:ea typeface="Urbanist"/>
              </a:rPr>
              <a:t>SGDOP: Arquitetura </a:t>
            </a:r>
            <a:r>
              <a:rPr b="1" lang="en-US" sz="6000" spc="-1" strike="noStrike">
                <a:solidFill>
                  <a:srgbClr val="10b981"/>
                </a:solidFill>
                <a:latin typeface="Urbanist"/>
                <a:ea typeface="Urbanist"/>
              </a:rPr>
              <a:t>NestJS</a:t>
            </a:r>
            <a:endParaRPr b="0" lang="pt-B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87;p13"/>
          <p:cNvSpPr/>
          <p:nvPr/>
        </p:nvSpPr>
        <p:spPr>
          <a:xfrm>
            <a:off x="1405080" y="3423600"/>
            <a:ext cx="9381960" cy="11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9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Desenvolvimento de Backends Escaláveis e Robustos para a Gestão Pública Municipal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88;p13"/>
          <p:cNvSpPr/>
          <p:nvPr/>
        </p:nvSpPr>
        <p:spPr>
          <a:xfrm>
            <a:off x="4639680" y="4213800"/>
            <a:ext cx="2912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Frameworks Web | SENAC-RS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93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94;p14"/>
          <p:cNvSpPr/>
          <p:nvPr/>
        </p:nvSpPr>
        <p:spPr>
          <a:xfrm>
            <a:off x="305280" y="2415600"/>
            <a:ext cx="1158120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500" spc="-1" strike="noStrike">
                <a:solidFill>
                  <a:srgbClr val="ffffff"/>
                </a:solidFill>
                <a:latin typeface="Urbanist"/>
                <a:ea typeface="Urbanist"/>
              </a:rPr>
              <a:t>Agenda Técnica</a:t>
            </a:r>
            <a:endParaRPr b="0" lang="pt-BR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95;p14"/>
          <p:cNvSpPr/>
          <p:nvPr/>
        </p:nvSpPr>
        <p:spPr>
          <a:xfrm>
            <a:off x="5619600" y="3861360"/>
            <a:ext cx="952200" cy="37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96;p14"/>
          <p:cNvSpPr/>
          <p:nvPr/>
        </p:nvSpPr>
        <p:spPr>
          <a:xfrm>
            <a:off x="2286000" y="4185360"/>
            <a:ext cx="7619760" cy="8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Fundamentação, Camadas de Aplicação, Lógica de Domínio e Padrões de Segurança.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01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102;p15" descr="image.png"/>
          <p:cNvPicPr/>
          <p:nvPr/>
        </p:nvPicPr>
        <p:blipFill>
          <a:blip r:embed="rId2"/>
          <a:stretch/>
        </p:blipFill>
        <p:spPr>
          <a:xfrm>
            <a:off x="581040" y="2358360"/>
            <a:ext cx="5229000" cy="329544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103;p15" descr="image.png"/>
          <p:cNvPicPr/>
          <p:nvPr/>
        </p:nvPicPr>
        <p:blipFill>
          <a:blip r:embed="rId3"/>
          <a:stretch/>
        </p:blipFill>
        <p:spPr>
          <a:xfrm>
            <a:off x="6381720" y="2358360"/>
            <a:ext cx="5229000" cy="329544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04;p15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O DESAFIO DO CÁLCULO PÚBLICO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105;p15"/>
          <p:cNvSpPr/>
          <p:nvPr/>
        </p:nvSpPr>
        <p:spPr>
          <a:xfrm>
            <a:off x="971640" y="3606120"/>
            <a:ext cx="467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Ineficiência Manual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106;p15"/>
          <p:cNvSpPr/>
          <p:nvPr/>
        </p:nvSpPr>
        <p:spPr>
          <a:xfrm>
            <a:off x="971640" y="4158720"/>
            <a:ext cx="4447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Processos baseados em planilhas geram inconsistências graves, atrasando o ressarcimento do servidor e dificultando a transparência fiscal.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107;p15"/>
          <p:cNvSpPr/>
          <p:nvPr/>
        </p:nvSpPr>
        <p:spPr>
          <a:xfrm>
            <a:off x="6772320" y="3606120"/>
            <a:ext cx="467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Requisito Técnico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108;p15"/>
          <p:cNvSpPr/>
          <p:nvPr/>
        </p:nvSpPr>
        <p:spPr>
          <a:xfrm>
            <a:off x="6772320" y="4158720"/>
            <a:ext cx="4447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Necessidade de uma "Source of Truth" centralizada: um motor de cálculo desacoplado que garanta conformidade com múltiplos decretos.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Google Shape;109;p15" descr="image.png"/>
          <p:cNvPicPr/>
          <p:nvPr/>
        </p:nvPicPr>
        <p:blipFill>
          <a:blip r:embed="rId4"/>
          <a:stretch/>
        </p:blipFill>
        <p:spPr>
          <a:xfrm>
            <a:off x="971640" y="2787120"/>
            <a:ext cx="571320" cy="45684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10;p15" descr="image.png"/>
          <p:cNvPicPr/>
          <p:nvPr/>
        </p:nvPicPr>
        <p:blipFill>
          <a:blip r:embed="rId5"/>
          <a:stretch/>
        </p:blipFill>
        <p:spPr>
          <a:xfrm>
            <a:off x="6772320" y="2787120"/>
            <a:ext cx="39960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15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16;p16" descr="image.png"/>
          <p:cNvPicPr/>
          <p:nvPr/>
        </p:nvPicPr>
        <p:blipFill>
          <a:blip r:embed="rId2"/>
          <a:stretch/>
        </p:blipFill>
        <p:spPr>
          <a:xfrm>
            <a:off x="6095880" y="9360"/>
            <a:ext cx="6086160" cy="6857640"/>
          </a:xfrm>
          <a:prstGeom prst="rect">
            <a:avLst/>
          </a:prstGeom>
          <a:ln w="0">
            <a:noFill/>
          </a:ln>
        </p:spPr>
      </p:pic>
      <p:sp>
        <p:nvSpPr>
          <p:cNvPr id="88" name="Google Shape;117;p16"/>
          <p:cNvSpPr/>
          <p:nvPr/>
        </p:nvSpPr>
        <p:spPr>
          <a:xfrm>
            <a:off x="581040" y="1087560"/>
            <a:ext cx="519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POR QUE NESTJS?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18;p16"/>
          <p:cNvSpPr/>
          <p:nvPr/>
        </p:nvSpPr>
        <p:spPr>
          <a:xfrm>
            <a:off x="581040" y="2230560"/>
            <a:ext cx="519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Arquitetura Opinada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19;p16"/>
          <p:cNvSpPr/>
          <p:nvPr/>
        </p:nvSpPr>
        <p:spPr>
          <a:xfrm>
            <a:off x="581040" y="2973600"/>
            <a:ext cx="4943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Diferente de frameworks minimalistas, o NestJS impõe uma organização rigorosa inspirada no Angular, essencial para sistemas críticos.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20;p16"/>
          <p:cNvSpPr/>
          <p:nvPr/>
        </p:nvSpPr>
        <p:spPr>
          <a:xfrm>
            <a:off x="866880" y="4230720"/>
            <a:ext cx="465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TypeScript Nativo: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Segurança através de tipagem estática.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21;p16"/>
          <p:cNvSpPr/>
          <p:nvPr/>
        </p:nvSpPr>
        <p:spPr>
          <a:xfrm>
            <a:off x="866880" y="4983480"/>
            <a:ext cx="465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Injeção de Dependência: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Desacoplamento total entre componentes.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22;p16"/>
          <p:cNvSpPr/>
          <p:nvPr/>
        </p:nvSpPr>
        <p:spPr>
          <a:xfrm>
            <a:off x="866880" y="5735880"/>
            <a:ext cx="4657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Extensibilidade: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Pronto para Microserviços e integração com Redis/PostgreSQL.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23;p16"/>
          <p:cNvSpPr/>
          <p:nvPr/>
        </p:nvSpPr>
        <p:spPr>
          <a:xfrm>
            <a:off x="581040" y="423072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4;p16"/>
          <p:cNvSpPr/>
          <p:nvPr/>
        </p:nvSpPr>
        <p:spPr>
          <a:xfrm>
            <a:off x="581040" y="49834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25;p16"/>
          <p:cNvSpPr/>
          <p:nvPr/>
        </p:nvSpPr>
        <p:spPr>
          <a:xfrm>
            <a:off x="581040" y="57358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30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131;p17" descr=""/>
          <p:cNvPicPr/>
          <p:nvPr/>
        </p:nvPicPr>
        <p:blipFill>
          <a:blip r:embed="rId2"/>
          <a:srcRect l="13480" t="0" r="13480" b="0"/>
          <a:stretch/>
        </p:blipFill>
        <p:spPr>
          <a:xfrm>
            <a:off x="6381720" y="2348640"/>
            <a:ext cx="5229000" cy="331452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32;p17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ARQUITETURA EM CAMADAS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33;p17"/>
          <p:cNvSpPr/>
          <p:nvPr/>
        </p:nvSpPr>
        <p:spPr>
          <a:xfrm>
            <a:off x="581040" y="2653560"/>
            <a:ext cx="549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Separação de Preocupações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34;p17"/>
          <p:cNvSpPr/>
          <p:nvPr/>
        </p:nvSpPr>
        <p:spPr>
          <a:xfrm>
            <a:off x="581040" y="3206160"/>
            <a:ext cx="5229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O SGDOP utiliza o padrão </a:t>
            </a: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Layered Architecture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para garantir que a lógica financeira não se misture com a entrada de dados.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36;p17"/>
          <p:cNvSpPr/>
          <p:nvPr/>
        </p:nvSpPr>
        <p:spPr>
          <a:xfrm>
            <a:off x="866880" y="4311000"/>
            <a:ext cx="494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Controllers: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Portas de entrada (HTTP).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37;p17"/>
          <p:cNvSpPr/>
          <p:nvPr/>
        </p:nvSpPr>
        <p:spPr>
          <a:xfrm>
            <a:off x="866880" y="4758480"/>
            <a:ext cx="494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Services: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Onde vivem os cálculos e regras.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8;p17"/>
          <p:cNvSpPr/>
          <p:nvPr/>
        </p:nvSpPr>
        <p:spPr>
          <a:xfrm>
            <a:off x="866880" y="5206320"/>
            <a:ext cx="494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Entities: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O reflexo do domínio de dados.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39;p17"/>
          <p:cNvSpPr/>
          <p:nvPr/>
        </p:nvSpPr>
        <p:spPr>
          <a:xfrm>
            <a:off x="581040" y="431100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40;p17"/>
          <p:cNvSpPr/>
          <p:nvPr/>
        </p:nvSpPr>
        <p:spPr>
          <a:xfrm>
            <a:off x="581040" y="47584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41;p17"/>
          <p:cNvSpPr/>
          <p:nvPr/>
        </p:nvSpPr>
        <p:spPr>
          <a:xfrm>
            <a:off x="581040" y="520632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46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147;p18" descr="image.png"/>
          <p:cNvPicPr/>
          <p:nvPr/>
        </p:nvPicPr>
        <p:blipFill>
          <a:blip r:embed="rId2"/>
          <a:stretch/>
        </p:blipFill>
        <p:spPr>
          <a:xfrm>
            <a:off x="581040" y="2048760"/>
            <a:ext cx="3295440" cy="3914280"/>
          </a:xfrm>
          <a:prstGeom prst="rect">
            <a:avLst/>
          </a:prstGeom>
          <a:ln w="0">
            <a:noFill/>
          </a:ln>
        </p:spPr>
      </p:pic>
      <p:pic>
        <p:nvPicPr>
          <p:cNvPr id="110" name="Google Shape;148;p18" descr="image.png"/>
          <p:cNvPicPr/>
          <p:nvPr/>
        </p:nvPicPr>
        <p:blipFill>
          <a:blip r:embed="rId3"/>
          <a:stretch/>
        </p:blipFill>
        <p:spPr>
          <a:xfrm>
            <a:off x="4448160" y="2048760"/>
            <a:ext cx="3295440" cy="3914280"/>
          </a:xfrm>
          <a:prstGeom prst="rect">
            <a:avLst/>
          </a:prstGeom>
          <a:ln w="0">
            <a:noFill/>
          </a:ln>
        </p:spPr>
      </p:pic>
      <p:pic>
        <p:nvPicPr>
          <p:cNvPr id="111" name="Google Shape;149;p18" descr="image.png"/>
          <p:cNvPicPr/>
          <p:nvPr/>
        </p:nvPicPr>
        <p:blipFill>
          <a:blip r:embed="rId4"/>
          <a:stretch/>
        </p:blipFill>
        <p:spPr>
          <a:xfrm>
            <a:off x="8315280" y="2048760"/>
            <a:ext cx="3295440" cy="3914280"/>
          </a:xfrm>
          <a:prstGeom prst="rect">
            <a:avLst/>
          </a:prstGeom>
          <a:ln w="0">
            <a:noFill/>
          </a:ln>
        </p:spPr>
      </p:pic>
      <p:sp>
        <p:nvSpPr>
          <p:cNvPr id="112" name="Google Shape;150;p18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COMPONENTES CORE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51;p18"/>
          <p:cNvSpPr/>
          <p:nvPr/>
        </p:nvSpPr>
        <p:spPr>
          <a:xfrm>
            <a:off x="971640" y="3296520"/>
            <a:ext cx="26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Modules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52;p18"/>
          <p:cNvSpPr/>
          <p:nvPr/>
        </p:nvSpPr>
        <p:spPr>
          <a:xfrm>
            <a:off x="971640" y="3849120"/>
            <a:ext cx="2514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Encapsulamento de funcionalidades. O DiariasModule isola tudo o que pertence ao contexto de diárias.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53;p18"/>
          <p:cNvSpPr/>
          <p:nvPr/>
        </p:nvSpPr>
        <p:spPr>
          <a:xfrm>
            <a:off x="4838760" y="3296520"/>
            <a:ext cx="26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Providers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54;p18"/>
          <p:cNvSpPr/>
          <p:nvPr/>
        </p:nvSpPr>
        <p:spPr>
          <a:xfrm>
            <a:off x="4838760" y="3849120"/>
            <a:ext cx="2514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Classes anotadas com @Injectable(), gerenciadas pelo container de DI do NestJS.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55;p18"/>
          <p:cNvSpPr/>
          <p:nvPr/>
        </p:nvSpPr>
        <p:spPr>
          <a:xfrm>
            <a:off x="8705880" y="3296520"/>
            <a:ext cx="26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Controllers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56;p18"/>
          <p:cNvSpPr/>
          <p:nvPr/>
        </p:nvSpPr>
        <p:spPr>
          <a:xfrm>
            <a:off x="8705880" y="3849120"/>
            <a:ext cx="2514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Decoradores como @Post() e @Get() mapeiam as rotas REST de forma semântica.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" name="Google Shape;157;p18" descr="image.png"/>
          <p:cNvPicPr/>
          <p:nvPr/>
        </p:nvPicPr>
        <p:blipFill>
          <a:blip r:embed="rId5"/>
          <a:stretch/>
        </p:blipFill>
        <p:spPr>
          <a:xfrm>
            <a:off x="971640" y="247752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20" name="Google Shape;158;p18" descr="image.png"/>
          <p:cNvPicPr/>
          <p:nvPr/>
        </p:nvPicPr>
        <p:blipFill>
          <a:blip r:embed="rId6"/>
          <a:stretch/>
        </p:blipFill>
        <p:spPr>
          <a:xfrm>
            <a:off x="4838760" y="2477520"/>
            <a:ext cx="571320" cy="456840"/>
          </a:xfrm>
          <a:prstGeom prst="rect">
            <a:avLst/>
          </a:prstGeom>
          <a:ln w="0">
            <a:noFill/>
          </a:ln>
        </p:spPr>
      </p:pic>
      <p:pic>
        <p:nvPicPr>
          <p:cNvPr id="121" name="Google Shape;159;p18" descr="image.png"/>
          <p:cNvPicPr/>
          <p:nvPr/>
        </p:nvPicPr>
        <p:blipFill>
          <a:blip r:embed="rId7"/>
          <a:stretch/>
        </p:blipFill>
        <p:spPr>
          <a:xfrm>
            <a:off x="8705880" y="2477520"/>
            <a:ext cx="45684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64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23" name="Google Shape;165;p19" descr="image.png"/>
          <p:cNvPicPr/>
          <p:nvPr/>
        </p:nvPicPr>
        <p:blipFill>
          <a:blip r:embed="rId2"/>
          <a:stretch/>
        </p:blipFill>
        <p:spPr>
          <a:xfrm>
            <a:off x="6381720" y="2510640"/>
            <a:ext cx="5229000" cy="2990520"/>
          </a:xfrm>
          <a:prstGeom prst="rect">
            <a:avLst/>
          </a:prstGeom>
          <a:ln w="0">
            <a:noFill/>
          </a:ln>
        </p:spPr>
      </p:pic>
      <p:pic>
        <p:nvPicPr>
          <p:cNvPr id="124" name="Google Shape;166;p19" descr="image.png"/>
          <p:cNvPicPr/>
          <p:nvPr/>
        </p:nvPicPr>
        <p:blipFill>
          <a:blip r:embed="rId3"/>
          <a:stretch/>
        </p:blipFill>
        <p:spPr>
          <a:xfrm>
            <a:off x="581040" y="3510720"/>
            <a:ext cx="5229000" cy="1580760"/>
          </a:xfrm>
          <a:prstGeom prst="rect">
            <a:avLst/>
          </a:prstGeom>
          <a:ln w="0">
            <a:noFill/>
          </a:ln>
        </p:spPr>
      </p:pic>
      <p:sp>
        <p:nvSpPr>
          <p:cNvPr id="125" name="Google Shape;167;p19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O PONTO DE ENTRADA: CONTROLLER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68;p19"/>
          <p:cNvSpPr/>
          <p:nvPr/>
        </p:nvSpPr>
        <p:spPr>
          <a:xfrm>
            <a:off x="581040" y="2701080"/>
            <a:ext cx="5229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O DiariasController atua como o regente da orquestra, recebendo o payload e delegando a execução.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69;p19"/>
          <p:cNvSpPr/>
          <p:nvPr/>
        </p:nvSpPr>
        <p:spPr>
          <a:xfrm>
            <a:off x="6772320" y="3206160"/>
            <a:ext cx="467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Vantagens Técnicas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70;p19"/>
          <p:cNvSpPr/>
          <p:nvPr/>
        </p:nvSpPr>
        <p:spPr>
          <a:xfrm>
            <a:off x="7058160" y="3758400"/>
            <a:ext cx="416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Serialização automática para JSON.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171;p19"/>
          <p:cNvSpPr/>
          <p:nvPr/>
        </p:nvSpPr>
        <p:spPr>
          <a:xfrm>
            <a:off x="7058160" y="4206240"/>
            <a:ext cx="416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Uso de Decoradores de Parâmetros.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72;p19"/>
          <p:cNvSpPr/>
          <p:nvPr/>
        </p:nvSpPr>
        <p:spPr>
          <a:xfrm>
            <a:off x="7058160" y="4653720"/>
            <a:ext cx="416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Fácil integração com Middlewares de Auditoria.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173;p19"/>
          <p:cNvSpPr/>
          <p:nvPr/>
        </p:nvSpPr>
        <p:spPr>
          <a:xfrm>
            <a:off x="6772320" y="375840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74;p19"/>
          <p:cNvSpPr/>
          <p:nvPr/>
        </p:nvSpPr>
        <p:spPr>
          <a:xfrm>
            <a:off x="6772320" y="420624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175;p19"/>
          <p:cNvSpPr/>
          <p:nvPr/>
        </p:nvSpPr>
        <p:spPr>
          <a:xfrm>
            <a:off x="6772320" y="465372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80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181;p20" descr="image.png"/>
          <p:cNvPicPr/>
          <p:nvPr/>
        </p:nvPicPr>
        <p:blipFill>
          <a:blip r:embed="rId2"/>
          <a:stretch/>
        </p:blipFill>
        <p:spPr>
          <a:xfrm>
            <a:off x="581040" y="3573720"/>
            <a:ext cx="4943160" cy="1380600"/>
          </a:xfrm>
          <a:prstGeom prst="rect">
            <a:avLst/>
          </a:prstGeom>
          <a:ln w="0">
            <a:noFill/>
          </a:ln>
        </p:spPr>
      </p:pic>
      <p:sp>
        <p:nvSpPr>
          <p:cNvPr id="136" name="Google Shape;182;p20"/>
          <p:cNvSpPr/>
          <p:nvPr/>
        </p:nvSpPr>
        <p:spPr>
          <a:xfrm>
            <a:off x="581040" y="1087560"/>
            <a:ext cx="519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MOTOR DE LÓGICA: SERVICES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183;p20"/>
          <p:cNvSpPr/>
          <p:nvPr/>
        </p:nvSpPr>
        <p:spPr>
          <a:xfrm>
            <a:off x="581040" y="2573640"/>
            <a:ext cx="494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O DiariasService isola as regras complexas de cálculo, tornando-as testáveis unitariamente.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84;p20"/>
          <p:cNvSpPr/>
          <p:nvPr/>
        </p:nvSpPr>
        <p:spPr>
          <a:xfrm>
            <a:off x="581040" y="5145120"/>
            <a:ext cx="49431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Urbanist"/>
                <a:ea typeface="Urbanist"/>
              </a:rPr>
              <a:t>Isso garante que uma mudança na lei não exija mudanças no código da API (Open/Closed Principle).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9" name="Google Shape;185;p20" descr=""/>
          <p:cNvPicPr/>
          <p:nvPr/>
        </p:nvPicPr>
        <p:blipFill>
          <a:blip r:embed="rId3"/>
          <a:stretch/>
        </p:blipFill>
        <p:spPr>
          <a:xfrm>
            <a:off x="6573960" y="0"/>
            <a:ext cx="56178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90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41" name="Google Shape;191;p21" descr="image.png"/>
          <p:cNvPicPr/>
          <p:nvPr/>
        </p:nvPicPr>
        <p:blipFill>
          <a:blip r:embed="rId2"/>
          <a:stretch/>
        </p:blipFill>
        <p:spPr>
          <a:xfrm>
            <a:off x="581040" y="2358360"/>
            <a:ext cx="5229000" cy="3295440"/>
          </a:xfrm>
          <a:prstGeom prst="rect">
            <a:avLst/>
          </a:prstGeom>
          <a:ln w="0">
            <a:noFill/>
          </a:ln>
        </p:spPr>
      </p:pic>
      <p:pic>
        <p:nvPicPr>
          <p:cNvPr id="142" name="Google Shape;192;p21" descr="image.png"/>
          <p:cNvPicPr/>
          <p:nvPr/>
        </p:nvPicPr>
        <p:blipFill>
          <a:blip r:embed="rId3"/>
          <a:stretch/>
        </p:blipFill>
        <p:spPr>
          <a:xfrm>
            <a:off x="6381720" y="2358360"/>
            <a:ext cx="5229000" cy="3295440"/>
          </a:xfrm>
          <a:prstGeom prst="rect">
            <a:avLst/>
          </a:prstGeom>
          <a:ln w="0">
            <a:noFill/>
          </a:ln>
        </p:spPr>
      </p:pic>
      <p:sp>
        <p:nvSpPr>
          <p:cNvPr id="143" name="Google Shape;193;p21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INTEGRIDADE DE DADOS (CONCEITO A)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194;p21"/>
          <p:cNvSpPr/>
          <p:nvPr/>
        </p:nvSpPr>
        <p:spPr>
          <a:xfrm>
            <a:off x="971640" y="3606120"/>
            <a:ext cx="467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ValidationPipes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195;p21"/>
          <p:cNvSpPr/>
          <p:nvPr/>
        </p:nvSpPr>
        <p:spPr>
          <a:xfrm>
            <a:off x="971640" y="4158720"/>
            <a:ext cx="4447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O uso de Pipes garante que nenhum dado "sujo" chegue ao Service. A validação ocorre na borda do sistema.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196;p21"/>
          <p:cNvSpPr/>
          <p:nvPr/>
        </p:nvSpPr>
        <p:spPr>
          <a:xfrm>
            <a:off x="6772320" y="3606120"/>
            <a:ext cx="467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DTOs (Data Transfer Objects)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97;p21"/>
          <p:cNvSpPr/>
          <p:nvPr/>
        </p:nvSpPr>
        <p:spPr>
          <a:xfrm>
            <a:off x="6772320" y="4158720"/>
            <a:ext cx="4447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Contratos rígidos de interface que definem exatamente o que a API espera receber, prevenindo ataques de Mass Assignment.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8" name="Google Shape;198;p21" descr="image.png"/>
          <p:cNvPicPr/>
          <p:nvPr/>
        </p:nvPicPr>
        <p:blipFill>
          <a:blip r:embed="rId4"/>
          <a:stretch/>
        </p:blipFill>
        <p:spPr>
          <a:xfrm>
            <a:off x="971640" y="278712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199;p21" descr="image.png"/>
          <p:cNvPicPr/>
          <p:nvPr/>
        </p:nvPicPr>
        <p:blipFill>
          <a:blip r:embed="rId5"/>
          <a:stretch/>
        </p:blipFill>
        <p:spPr>
          <a:xfrm>
            <a:off x="6772320" y="2787120"/>
            <a:ext cx="342720" cy="45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204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51" name="Google Shape;205;p22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ROBUSTEZ E PRECISÃO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06;p22"/>
          <p:cNvSpPr/>
          <p:nvPr/>
        </p:nvSpPr>
        <p:spPr>
          <a:xfrm>
            <a:off x="581040" y="3020400"/>
            <a:ext cx="52290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0" spc="-1" strike="noStrike">
                <a:solidFill>
                  <a:srgbClr val="10b981"/>
                </a:solidFill>
                <a:latin typeface="Urbanist"/>
                <a:ea typeface="Urbanist"/>
              </a:rPr>
              <a:t>100%</a:t>
            </a:r>
            <a:endParaRPr b="0" lang="pt-BR" sz="10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07;p22"/>
          <p:cNvSpPr/>
          <p:nvPr/>
        </p:nvSpPr>
        <p:spPr>
          <a:xfrm>
            <a:off x="581040" y="4353840"/>
            <a:ext cx="522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Urbanist Medium"/>
                <a:ea typeface="Urbanist Medium"/>
              </a:rPr>
              <a:t>Cálculo Auditável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208;p22"/>
          <p:cNvSpPr/>
          <p:nvPr/>
        </p:nvSpPr>
        <p:spPr>
          <a:xfrm>
            <a:off x="6381720" y="3324960"/>
            <a:ext cx="549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Gestão de Exceções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209;p22"/>
          <p:cNvSpPr/>
          <p:nvPr/>
        </p:nvSpPr>
        <p:spPr>
          <a:xfrm>
            <a:off x="6381720" y="3877560"/>
            <a:ext cx="5229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Implementação de BadRequestException para fornecer feedback semântico ao usuário. Erros não derrubam o servidor, mas informam o cliente de forma padronizada.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215;p23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DOCUMENTAÇÃO COM SWAGGER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7" name="Google Shape;216;p23" descr="image.png"/>
          <p:cNvPicPr/>
          <p:nvPr/>
        </p:nvPicPr>
        <p:blipFill>
          <a:blip r:embed="rId1"/>
          <a:stretch/>
        </p:blipFill>
        <p:spPr>
          <a:xfrm>
            <a:off x="1570320" y="3614400"/>
            <a:ext cx="1761840" cy="180720"/>
          </a:xfrm>
          <a:prstGeom prst="rect">
            <a:avLst/>
          </a:prstGeom>
          <a:ln w="0">
            <a:noFill/>
          </a:ln>
        </p:spPr>
      </p:pic>
      <p:sp>
        <p:nvSpPr>
          <p:cNvPr id="158" name="Google Shape;217;p23"/>
          <p:cNvSpPr/>
          <p:nvPr/>
        </p:nvSpPr>
        <p:spPr>
          <a:xfrm>
            <a:off x="6381720" y="2925000"/>
            <a:ext cx="549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Auditoria Técnica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18;p23"/>
          <p:cNvSpPr/>
          <p:nvPr/>
        </p:nvSpPr>
        <p:spPr>
          <a:xfrm>
            <a:off x="6381720" y="3477600"/>
            <a:ext cx="5229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O SwaggerModule gera automaticamente a especificação OpenAPI. Isso permite que outros desenvolvedores e órgãos de controle testem a API sem consultar o código-fonte.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19;p23"/>
          <p:cNvSpPr/>
          <p:nvPr/>
        </p:nvSpPr>
        <p:spPr>
          <a:xfrm>
            <a:off x="6381720" y="4591800"/>
            <a:ext cx="5229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Diferencial:</a:t>
            </a: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 Interface viva e interativa que serve como manual de integração.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Google Shape;220;p23" descr=""/>
          <p:cNvPicPr/>
          <p:nvPr/>
        </p:nvPicPr>
        <p:blipFill>
          <a:blip r:embed="rId2"/>
          <a:stretch/>
        </p:blipFill>
        <p:spPr>
          <a:xfrm>
            <a:off x="540000" y="1800000"/>
            <a:ext cx="5562360" cy="344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26;p24"/>
          <p:cNvSpPr/>
          <p:nvPr/>
        </p:nvSpPr>
        <p:spPr>
          <a:xfrm>
            <a:off x="305280" y="1712520"/>
            <a:ext cx="11581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f8fafc"/>
                </a:solidFill>
                <a:latin typeface="Urbanist"/>
                <a:ea typeface="Urbanist"/>
              </a:rPr>
              <a:t>Q&amp;A</a:t>
            </a:r>
            <a:endParaRPr b="0" lang="pt-BR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27;p24"/>
          <p:cNvSpPr/>
          <p:nvPr/>
        </p:nvSpPr>
        <p:spPr>
          <a:xfrm>
            <a:off x="2776680" y="3141360"/>
            <a:ext cx="6638400" cy="8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Urbanist"/>
                <a:ea typeface="Urbanist"/>
              </a:rPr>
              <a:t>Se precisar tirar dúvidas sobre a arquitetura, lógica ou implementação do SGDOP? Desprecise!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28;p24"/>
          <p:cNvSpPr/>
          <p:nvPr/>
        </p:nvSpPr>
        <p:spPr>
          <a:xfrm rot="21561000">
            <a:off x="4502160" y="5922720"/>
            <a:ext cx="18936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108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adriano91nunes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29;p24"/>
          <p:cNvSpPr/>
          <p:nvPr/>
        </p:nvSpPr>
        <p:spPr>
          <a:xfrm>
            <a:off x="4593960" y="6293880"/>
            <a:ext cx="1800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96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Urbanist"/>
                <a:ea typeface="Urbanist"/>
              </a:rPr>
              <a:t>NestJS Enterprise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Google Shape;230;p24" descr="image.png"/>
          <p:cNvPicPr/>
          <p:nvPr/>
        </p:nvPicPr>
        <p:blipFill>
          <a:blip r:embed="rId1"/>
          <a:stretch/>
        </p:blipFill>
        <p:spPr>
          <a:xfrm>
            <a:off x="4499280" y="6109920"/>
            <a:ext cx="180720" cy="19008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231;p24" descr="image.png"/>
          <p:cNvPicPr/>
          <p:nvPr/>
        </p:nvPicPr>
        <p:blipFill>
          <a:blip r:embed="rId2"/>
          <a:stretch/>
        </p:blipFill>
        <p:spPr>
          <a:xfrm>
            <a:off x="4500000" y="6469920"/>
            <a:ext cx="237600" cy="19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236;p25" descr="image.png"/>
          <p:cNvPicPr/>
          <p:nvPr/>
        </p:nvPicPr>
        <p:blipFill>
          <a:blip r:embed="rId1"/>
          <a:stretch/>
        </p:blipFill>
        <p:spPr>
          <a:xfrm>
            <a:off x="-10296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237;p25"/>
          <p:cNvSpPr/>
          <p:nvPr/>
        </p:nvSpPr>
        <p:spPr>
          <a:xfrm>
            <a:off x="581040" y="897120"/>
            <a:ext cx="115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10b981"/>
                </a:solidFill>
                <a:latin typeface="Urbanist Medium"/>
                <a:ea typeface="Urbanist Medium"/>
              </a:rPr>
              <a:t>IMAGE SOURCES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38;p25"/>
          <p:cNvSpPr/>
          <p:nvPr/>
        </p:nvSpPr>
        <p:spPr>
          <a:xfrm>
            <a:off x="581040" y="195012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39;p25"/>
          <p:cNvSpPr/>
          <p:nvPr/>
        </p:nvSpPr>
        <p:spPr>
          <a:xfrm>
            <a:off x="477720" y="272664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40;p25"/>
          <p:cNvSpPr/>
          <p:nvPr/>
        </p:nvSpPr>
        <p:spPr>
          <a:xfrm>
            <a:off x="581040" y="351936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41;p25"/>
          <p:cNvSpPr/>
          <p:nvPr/>
        </p:nvSpPr>
        <p:spPr>
          <a:xfrm>
            <a:off x="581040" y="4304160"/>
            <a:ext cx="11029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42;p25"/>
          <p:cNvSpPr/>
          <p:nvPr/>
        </p:nvSpPr>
        <p:spPr>
          <a:xfrm>
            <a:off x="581040" y="19594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243;p25"/>
          <p:cNvSpPr/>
          <p:nvPr/>
        </p:nvSpPr>
        <p:spPr>
          <a:xfrm>
            <a:off x="581040" y="27252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44;p25"/>
          <p:cNvSpPr/>
          <p:nvPr/>
        </p:nvSpPr>
        <p:spPr>
          <a:xfrm>
            <a:off x="581040" y="27252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245;p25"/>
          <p:cNvSpPr/>
          <p:nvPr/>
        </p:nvSpPr>
        <p:spPr>
          <a:xfrm>
            <a:off x="581040" y="27442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Google Shape;246;p25"/>
          <p:cNvSpPr/>
          <p:nvPr/>
        </p:nvSpPr>
        <p:spPr>
          <a:xfrm>
            <a:off x="581040" y="35100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247;p25"/>
          <p:cNvSpPr/>
          <p:nvPr/>
        </p:nvSpPr>
        <p:spPr>
          <a:xfrm>
            <a:off x="581040" y="35100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248;p25"/>
          <p:cNvSpPr/>
          <p:nvPr/>
        </p:nvSpPr>
        <p:spPr>
          <a:xfrm>
            <a:off x="581040" y="35290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249;p25"/>
          <p:cNvSpPr/>
          <p:nvPr/>
        </p:nvSpPr>
        <p:spPr>
          <a:xfrm>
            <a:off x="581040" y="42948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50;p25"/>
          <p:cNvSpPr/>
          <p:nvPr/>
        </p:nvSpPr>
        <p:spPr>
          <a:xfrm>
            <a:off x="581040" y="42948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51;p25"/>
          <p:cNvSpPr/>
          <p:nvPr/>
        </p:nvSpPr>
        <p:spPr>
          <a:xfrm>
            <a:off x="581040" y="4313880"/>
            <a:ext cx="56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0b981"/>
                </a:solidFill>
                <a:latin typeface="Urbanist"/>
                <a:ea typeface="Urbanist"/>
              </a:rPr>
              <a:t>•</a:t>
            </a:r>
            <a:endParaRPr b="0" lang="pt-B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52;p25"/>
          <p:cNvSpPr/>
          <p:nvPr/>
        </p:nvSpPr>
        <p:spPr>
          <a:xfrm>
            <a:off x="581040" y="50796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53;p25"/>
          <p:cNvSpPr/>
          <p:nvPr/>
        </p:nvSpPr>
        <p:spPr>
          <a:xfrm>
            <a:off x="581040" y="507960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54;p25"/>
          <p:cNvSpPr/>
          <p:nvPr/>
        </p:nvSpPr>
        <p:spPr>
          <a:xfrm>
            <a:off x="1676520" y="2092680"/>
            <a:ext cx="993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bd5e1"/>
                </a:solidFill>
                <a:latin typeface="Urbanist"/>
                <a:ea typeface="Urbanist"/>
              </a:rPr>
              <a:t>https://cdnb.artstation.com/p/marketplace/bundles/covers/000/006/951/original/big.jpg</a:t>
            </a:r>
            <a:endParaRPr b="0" lang="pt-BR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55;p25"/>
          <p:cNvSpPr/>
          <p:nvPr/>
        </p:nvSpPr>
        <p:spPr>
          <a:xfrm>
            <a:off x="1676520" y="2338560"/>
            <a:ext cx="9934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Urbanist"/>
                <a:ea typeface="Urbanist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Urbanist"/>
                <a:ea typeface="Urbanist"/>
              </a:rPr>
              <a:t>www.artstation.com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256;p25"/>
          <p:cNvSpPr/>
          <p:nvPr/>
        </p:nvSpPr>
        <p:spPr>
          <a:xfrm>
            <a:off x="1676520" y="2877480"/>
            <a:ext cx="993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bd5e1"/>
                </a:solidFill>
                <a:latin typeface="Urbanist"/>
                <a:ea typeface="Urbanist"/>
              </a:rPr>
              <a:t>https://miro.medium.com/0*zScVClCCjn6jHSSC.gif</a:t>
            </a:r>
            <a:endParaRPr b="0" lang="pt-BR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57;p25"/>
          <p:cNvSpPr/>
          <p:nvPr/>
        </p:nvSpPr>
        <p:spPr>
          <a:xfrm>
            <a:off x="1676520" y="3123360"/>
            <a:ext cx="9934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Urbanist"/>
                <a:ea typeface="Urbanist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Urbanist"/>
                <a:ea typeface="Urbanist"/>
              </a:rPr>
              <a:t>rameshfadatare.medium.com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Google Shape;258;p25"/>
          <p:cNvSpPr/>
          <p:nvPr/>
        </p:nvSpPr>
        <p:spPr>
          <a:xfrm>
            <a:off x="1676520" y="3662280"/>
            <a:ext cx="993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bd5e1"/>
                </a:solidFill>
                <a:latin typeface="Urbanist"/>
                <a:ea typeface="Urbanist"/>
              </a:rPr>
              <a:t>https://miro.medium.com/v2/resize:fit:1400/0*UhzoHgOUZXQ4ueDI</a:t>
            </a:r>
            <a:endParaRPr b="0" lang="pt-BR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59;p25"/>
          <p:cNvSpPr/>
          <p:nvPr/>
        </p:nvSpPr>
        <p:spPr>
          <a:xfrm>
            <a:off x="1676520" y="3908160"/>
            <a:ext cx="9934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Urbanist"/>
                <a:ea typeface="Urbanist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Urbanist"/>
                <a:ea typeface="Urbanist"/>
              </a:rPr>
              <a:t>vitalii-zdanovskyi.medium.com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Google Shape;260;p25" descr="image.png"/>
          <p:cNvPicPr/>
          <p:nvPr/>
        </p:nvPicPr>
        <p:blipFill>
          <a:blip r:embed="rId2"/>
          <a:stretch/>
        </p:blipFill>
        <p:spPr>
          <a:xfrm>
            <a:off x="581040" y="4453560"/>
            <a:ext cx="731160" cy="548280"/>
          </a:xfrm>
          <a:prstGeom prst="rect">
            <a:avLst/>
          </a:prstGeom>
          <a:ln w="0">
            <a:noFill/>
          </a:ln>
        </p:spPr>
      </p:pic>
      <p:sp>
        <p:nvSpPr>
          <p:cNvPr id="193" name="Google Shape;261;p25"/>
          <p:cNvSpPr/>
          <p:nvPr/>
        </p:nvSpPr>
        <p:spPr>
          <a:xfrm>
            <a:off x="1676520" y="4447080"/>
            <a:ext cx="993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bd5e1"/>
                </a:solidFill>
                <a:latin typeface="Urbanist"/>
                <a:ea typeface="Urbanist"/>
              </a:rPr>
              <a:t>https://miro.medium.com/v2/resize:fit:1400/1*u2UwlalxmQDykVySnzv_Gg.png</a:t>
            </a:r>
            <a:endParaRPr b="0" lang="pt-BR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Google Shape;262;p25"/>
          <p:cNvSpPr/>
          <p:nvPr/>
        </p:nvSpPr>
        <p:spPr>
          <a:xfrm>
            <a:off x="1676520" y="4692960"/>
            <a:ext cx="9934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Urbanist"/>
                <a:ea typeface="Urbanist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Urbanist"/>
                <a:ea typeface="Urbanist"/>
              </a:rPr>
              <a:t>medium.com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Google Shape;263;p25" descr="image.png"/>
          <p:cNvPicPr/>
          <p:nvPr/>
        </p:nvPicPr>
        <p:blipFill>
          <a:blip r:embed="rId3"/>
          <a:stretch/>
        </p:blipFill>
        <p:spPr>
          <a:xfrm>
            <a:off x="581040" y="5202360"/>
            <a:ext cx="731160" cy="548280"/>
          </a:xfrm>
          <a:prstGeom prst="rect">
            <a:avLst/>
          </a:prstGeom>
          <a:ln w="0">
            <a:noFill/>
          </a:ln>
        </p:spPr>
      </p:pic>
      <p:sp>
        <p:nvSpPr>
          <p:cNvPr id="196" name="Google Shape;264;p25"/>
          <p:cNvSpPr/>
          <p:nvPr/>
        </p:nvSpPr>
        <p:spPr>
          <a:xfrm>
            <a:off x="1676520" y="5231880"/>
            <a:ext cx="9934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bd5e1"/>
                </a:solidFill>
                <a:latin typeface="Urbanist"/>
                <a:ea typeface="Urbanist"/>
              </a:rPr>
              <a:t>https://static.vecteezy.com/system/resources/thumbnails/077/942/204/small/modern-teal-geometric-technology-background-with-arrows-lines-and-abstract-squares-design-vector.jpg</a:t>
            </a:r>
            <a:endParaRPr b="0" lang="pt-BR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Google Shape;265;p25"/>
          <p:cNvSpPr/>
          <p:nvPr/>
        </p:nvSpPr>
        <p:spPr>
          <a:xfrm>
            <a:off x="1676520" y="5675760"/>
            <a:ext cx="9934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Urbanist"/>
                <a:ea typeface="Urbanist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Urbanist"/>
                <a:ea typeface="Urbanist"/>
              </a:rPr>
              <a:t>www.vecteezy.com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Google Shape;266;p25" descr=""/>
          <p:cNvPicPr/>
          <p:nvPr/>
        </p:nvPicPr>
        <p:blipFill>
          <a:blip r:embed="rId4"/>
          <a:stretch/>
        </p:blipFill>
        <p:spPr>
          <a:xfrm>
            <a:off x="581040" y="1975680"/>
            <a:ext cx="731160" cy="548280"/>
          </a:xfrm>
          <a:prstGeom prst="rect">
            <a:avLst/>
          </a:prstGeom>
          <a:ln w="0">
            <a:noFill/>
          </a:ln>
        </p:spPr>
      </p:pic>
      <p:pic>
        <p:nvPicPr>
          <p:cNvPr id="199" name="Google Shape;267;p25" descr=""/>
          <p:cNvPicPr/>
          <p:nvPr/>
        </p:nvPicPr>
        <p:blipFill>
          <a:blip r:embed="rId5"/>
          <a:stretch/>
        </p:blipFill>
        <p:spPr>
          <a:xfrm>
            <a:off x="581040" y="2857680"/>
            <a:ext cx="731160" cy="548280"/>
          </a:xfrm>
          <a:prstGeom prst="rect">
            <a:avLst/>
          </a:prstGeom>
          <a:ln w="0">
            <a:noFill/>
          </a:ln>
        </p:spPr>
      </p:pic>
      <p:pic>
        <p:nvPicPr>
          <p:cNvPr id="200" name="Google Shape;268;p25" descr=""/>
          <p:cNvPicPr/>
          <p:nvPr/>
        </p:nvPicPr>
        <p:blipFill>
          <a:blip r:embed="rId6"/>
          <a:stretch/>
        </p:blipFill>
        <p:spPr>
          <a:xfrm>
            <a:off x="581040" y="3642480"/>
            <a:ext cx="731160" cy="54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2026-05-14T23:49:18Z</dcterms:modified>
  <cp:revision>1</cp:revision>
  <dc:subject/>
  <dc:title/>
</cp:coreProperties>
</file>